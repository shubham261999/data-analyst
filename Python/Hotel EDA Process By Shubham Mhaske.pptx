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23"/>
  </p:notesMasterIdLst>
  <p:sldIdLst>
    <p:sldId id="256" r:id="rId2"/>
    <p:sldId id="257" r:id="rId3"/>
    <p:sldId id="259" r:id="rId4"/>
    <p:sldId id="260" r:id="rId5"/>
    <p:sldId id="262" r:id="rId6"/>
    <p:sldId id="263" r:id="rId7"/>
    <p:sldId id="261" r:id="rId8"/>
    <p:sldId id="264" r:id="rId9"/>
    <p:sldId id="267" r:id="rId10"/>
    <p:sldId id="265" r:id="rId11"/>
    <p:sldId id="268" r:id="rId12"/>
    <p:sldId id="272" r:id="rId13"/>
    <p:sldId id="273" r:id="rId14"/>
    <p:sldId id="274" r:id="rId15"/>
    <p:sldId id="275" r:id="rId16"/>
    <p:sldId id="276" r:id="rId17"/>
    <p:sldId id="277" r:id="rId18"/>
    <p:sldId id="278" r:id="rId19"/>
    <p:sldId id="279" r:id="rId20"/>
    <p:sldId id="270" r:id="rId21"/>
    <p:sldId id="27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UBHAM MHASKE" initials="SM" lastIdx="2" clrIdx="0">
    <p:extLst>
      <p:ext uri="{19B8F6BF-5375-455C-9EA6-DF929625EA0E}">
        <p15:presenceInfo xmlns:p15="http://schemas.microsoft.com/office/powerpoint/2012/main" userId="61c4ca20e204968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2-01T20:23:53.093" idx="1">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0E304D-2464-4483-B272-06B109192F6E}" type="datetimeFigureOut">
              <a:rPr lang="en-IN" smtClean="0"/>
              <a:t>10-02-2026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66F8F8-0B73-46D5-A459-7DDB83224444}" type="slidenum">
              <a:rPr lang="en-IN" smtClean="0"/>
              <a:t>‹#›</a:t>
            </a:fld>
            <a:endParaRPr lang="en-IN"/>
          </a:p>
        </p:txBody>
      </p:sp>
    </p:spTree>
    <p:extLst>
      <p:ext uri="{BB962C8B-B14F-4D97-AF65-F5344CB8AC3E}">
        <p14:creationId xmlns:p14="http://schemas.microsoft.com/office/powerpoint/2010/main" val="3861570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2C8FC3-1480-422A-AB9E-2331340A93E8}"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523347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2C8FC3-1480-422A-AB9E-2331340A93E8}"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2741773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2C8FC3-1480-422A-AB9E-2331340A93E8}"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2993079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2C8FC3-1480-422A-AB9E-2331340A93E8}"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2891865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2C8FC3-1480-422A-AB9E-2331340A93E8}" type="datetimeFigureOut">
              <a:rPr lang="en-IN" smtClean="0"/>
              <a:t>10-02-2026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028831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2C8FC3-1480-422A-AB9E-2331340A93E8}" type="datetimeFigureOut">
              <a:rPr lang="en-IN" smtClean="0"/>
              <a:t>10-02-2026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386955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2C8FC3-1480-422A-AB9E-2331340A93E8}" type="datetimeFigureOut">
              <a:rPr lang="en-IN" smtClean="0"/>
              <a:t>10-02-2026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4042419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888701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4205136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2C8FC3-1480-422A-AB9E-2331340A93E8}"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723474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2C8FC3-1480-422A-AB9E-2331340A93E8}"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38CE24-9E77-4FB9-B631-6468B3BDC8C9}"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14467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2395963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38CE24-9E77-4FB9-B631-6468B3BDC8C9}"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00157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4224583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2C8FC3-1480-422A-AB9E-2331340A93E8}"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47782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2C8FC3-1480-422A-AB9E-2331340A93E8}"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3775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12C8FC3-1480-422A-AB9E-2331340A93E8}" type="datetimeFigureOut">
              <a:rPr lang="en-IN" smtClean="0"/>
              <a:t>10-02-2026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D38CE24-9E77-4FB9-B631-6468B3BDC8C9}" type="slidenum">
              <a:rPr lang="en-IN" smtClean="0"/>
              <a:t>‹#›</a:t>
            </a:fld>
            <a:endParaRPr lang="en-IN"/>
          </a:p>
        </p:txBody>
      </p:sp>
    </p:spTree>
    <p:extLst>
      <p:ext uri="{BB962C8B-B14F-4D97-AF65-F5344CB8AC3E}">
        <p14:creationId xmlns:p14="http://schemas.microsoft.com/office/powerpoint/2010/main" val="3575955255"/>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712D1-9715-E410-56ED-51A5BE199E1C}"/>
              </a:ext>
            </a:extLst>
          </p:cNvPr>
          <p:cNvSpPr txBox="1"/>
          <p:nvPr/>
        </p:nvSpPr>
        <p:spPr>
          <a:xfrm>
            <a:off x="5203596" y="240351"/>
            <a:ext cx="2102177" cy="523220"/>
          </a:xfrm>
          <a:prstGeom prst="rect">
            <a:avLst/>
          </a:prstGeom>
          <a:noFill/>
        </p:spPr>
        <p:txBody>
          <a:bodyPr wrap="square" rtlCol="0">
            <a:spAutoFit/>
          </a:bodyPr>
          <a:lstStyle/>
          <a:p>
            <a:r>
              <a:rPr lang="en-US" sz="2800" b="1" dirty="0"/>
              <a:t>EDA</a:t>
            </a:r>
            <a:endParaRPr lang="en-IN" sz="2800" b="1" dirty="0"/>
          </a:p>
        </p:txBody>
      </p:sp>
      <p:sp>
        <p:nvSpPr>
          <p:cNvPr id="7" name="TextBox 6">
            <a:extLst>
              <a:ext uri="{FF2B5EF4-FFF2-40B4-BE49-F238E27FC236}">
                <a16:creationId xmlns:a16="http://schemas.microsoft.com/office/drawing/2014/main" id="{907E7D9B-611F-8725-AB5F-068A4E026A66}"/>
              </a:ext>
            </a:extLst>
          </p:cNvPr>
          <p:cNvSpPr txBox="1"/>
          <p:nvPr/>
        </p:nvSpPr>
        <p:spPr>
          <a:xfrm>
            <a:off x="2073897" y="688242"/>
            <a:ext cx="9596486" cy="1323439"/>
          </a:xfrm>
          <a:prstGeom prst="rect">
            <a:avLst/>
          </a:prstGeom>
          <a:noFill/>
        </p:spPr>
        <p:txBody>
          <a:bodyPr wrap="square" rtlCol="0">
            <a:spAutoFit/>
          </a:bodyPr>
          <a:lstStyle/>
          <a:p>
            <a:r>
              <a:rPr lang="en-US" sz="80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Hotel Booking</a:t>
            </a:r>
            <a:endParaRPr lang="en-IN" sz="80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endParaRPr>
          </a:p>
        </p:txBody>
      </p:sp>
      <p:pic>
        <p:nvPicPr>
          <p:cNvPr id="11" name="Picture 10">
            <a:extLst>
              <a:ext uri="{FF2B5EF4-FFF2-40B4-BE49-F238E27FC236}">
                <a16:creationId xmlns:a16="http://schemas.microsoft.com/office/drawing/2014/main" id="{90A62BB9-BF92-0FA0-22C4-8E1FD62EB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0147" y="1860937"/>
            <a:ext cx="5137609" cy="385320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2" name="TextBox 11">
            <a:extLst>
              <a:ext uri="{FF2B5EF4-FFF2-40B4-BE49-F238E27FC236}">
                <a16:creationId xmlns:a16="http://schemas.microsoft.com/office/drawing/2014/main" id="{CD35F6B8-416A-9B47-B7F5-621511B4AE74}"/>
              </a:ext>
            </a:extLst>
          </p:cNvPr>
          <p:cNvSpPr txBox="1"/>
          <p:nvPr/>
        </p:nvSpPr>
        <p:spPr>
          <a:xfrm>
            <a:off x="1263192" y="5523427"/>
            <a:ext cx="2865748" cy="646331"/>
          </a:xfrm>
          <a:prstGeom prst="rect">
            <a:avLst/>
          </a:prstGeom>
          <a:noFill/>
        </p:spPr>
        <p:txBody>
          <a:bodyPr wrap="square" rtlCol="0">
            <a:spAutoFit/>
          </a:bodyPr>
          <a:lstStyle/>
          <a:p>
            <a:r>
              <a:rPr lang="en-US" dirty="0"/>
              <a:t>Presented by</a:t>
            </a:r>
          </a:p>
          <a:p>
            <a:r>
              <a:rPr lang="en-US" dirty="0"/>
              <a:t>Shubham </a:t>
            </a:r>
            <a:r>
              <a:rPr lang="en-US" dirty="0" err="1"/>
              <a:t>Mhaske</a:t>
            </a:r>
            <a:endParaRPr lang="en-IN" dirty="0"/>
          </a:p>
        </p:txBody>
      </p:sp>
      <p:sp>
        <p:nvSpPr>
          <p:cNvPr id="13" name="TextBox 12">
            <a:extLst>
              <a:ext uri="{FF2B5EF4-FFF2-40B4-BE49-F238E27FC236}">
                <a16:creationId xmlns:a16="http://schemas.microsoft.com/office/drawing/2014/main" id="{47AF0903-08A8-B784-4380-3ED754160176}"/>
              </a:ext>
            </a:extLst>
          </p:cNvPr>
          <p:cNvSpPr txBox="1"/>
          <p:nvPr/>
        </p:nvSpPr>
        <p:spPr>
          <a:xfrm>
            <a:off x="10067828" y="5627802"/>
            <a:ext cx="1941919" cy="646331"/>
          </a:xfrm>
          <a:prstGeom prst="rect">
            <a:avLst/>
          </a:prstGeom>
          <a:noFill/>
        </p:spPr>
        <p:txBody>
          <a:bodyPr wrap="square" rtlCol="0">
            <a:spAutoFit/>
          </a:bodyPr>
          <a:lstStyle/>
          <a:p>
            <a:r>
              <a:rPr lang="en-US" dirty="0"/>
              <a:t>Guided by </a:t>
            </a:r>
          </a:p>
          <a:p>
            <a:r>
              <a:rPr lang="en-US" dirty="0"/>
              <a:t>Abhishek Sir</a:t>
            </a:r>
            <a:endParaRPr lang="en-IN" dirty="0"/>
          </a:p>
        </p:txBody>
      </p:sp>
      <p:sp>
        <p:nvSpPr>
          <p:cNvPr id="14" name="Arrow: Curved Up 13">
            <a:extLst>
              <a:ext uri="{FF2B5EF4-FFF2-40B4-BE49-F238E27FC236}">
                <a16:creationId xmlns:a16="http://schemas.microsoft.com/office/drawing/2014/main" id="{B25B65D1-7336-3F95-33C4-DB62CCFFF55F}"/>
              </a:ext>
            </a:extLst>
          </p:cNvPr>
          <p:cNvSpPr/>
          <p:nvPr/>
        </p:nvSpPr>
        <p:spPr>
          <a:xfrm rot="19981071">
            <a:off x="8568870" y="2214421"/>
            <a:ext cx="1216152" cy="731520"/>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66292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C4DE9-2FE4-078C-5072-349972589EF4}"/>
              </a:ext>
            </a:extLst>
          </p:cNvPr>
          <p:cNvSpPr>
            <a:spLocks noGrp="1"/>
          </p:cNvSpPr>
          <p:nvPr>
            <p:ph type="title"/>
          </p:nvPr>
        </p:nvSpPr>
        <p:spPr>
          <a:xfrm>
            <a:off x="4769854" y="278668"/>
            <a:ext cx="8911687" cy="1280890"/>
          </a:xfrm>
        </p:spPr>
        <p:txBody>
          <a:bodyPr/>
          <a:lstStyle/>
          <a:p>
            <a:r>
              <a:rPr lang="en-US" dirty="0">
                <a:latin typeface="Arial Black" panose="020B0A04020102020204" pitchFamily="34" charset="0"/>
              </a:rPr>
              <a:t>Content</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FB1048FA-3C95-405D-2628-3D853487E43D}"/>
              </a:ext>
            </a:extLst>
          </p:cNvPr>
          <p:cNvSpPr>
            <a:spLocks noGrp="1"/>
          </p:cNvSpPr>
          <p:nvPr>
            <p:ph idx="1"/>
          </p:nvPr>
        </p:nvSpPr>
        <p:spPr>
          <a:xfrm>
            <a:off x="2560931" y="1473724"/>
            <a:ext cx="7431481" cy="4465163"/>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Project Overviews</a:t>
            </a:r>
          </a:p>
          <a:p>
            <a:r>
              <a:rPr lang="en-US" sz="2800" dirty="0">
                <a:latin typeface="Calibri" panose="020F0502020204030204" pitchFamily="34" charset="0"/>
                <a:ea typeface="Calibri" panose="020F0502020204030204" pitchFamily="34" charset="0"/>
                <a:cs typeface="Calibri" panose="020F0502020204030204" pitchFamily="34" charset="0"/>
              </a:rPr>
              <a:t>Project Objective</a:t>
            </a:r>
          </a:p>
          <a:p>
            <a:r>
              <a:rPr lang="en-US" sz="2800" dirty="0">
                <a:latin typeface="Calibri" panose="020F0502020204030204" pitchFamily="34" charset="0"/>
                <a:ea typeface="Calibri" panose="020F0502020204030204" pitchFamily="34" charset="0"/>
                <a:cs typeface="Calibri" panose="020F0502020204030204" pitchFamily="34" charset="0"/>
              </a:rPr>
              <a:t>Raw Data Preview</a:t>
            </a:r>
          </a:p>
          <a:p>
            <a:r>
              <a:rPr lang="en-US" sz="2800" dirty="0">
                <a:latin typeface="Calibri" panose="020F0502020204030204" pitchFamily="34" charset="0"/>
                <a:ea typeface="Calibri" panose="020F0502020204030204" pitchFamily="34" charset="0"/>
                <a:cs typeface="Calibri" panose="020F0502020204030204" pitchFamily="34" charset="0"/>
              </a:rPr>
              <a:t>Know Your Variable</a:t>
            </a:r>
          </a:p>
          <a:p>
            <a:r>
              <a:rPr lang="en-US" sz="2800" dirty="0">
                <a:latin typeface="Calibri" panose="020F0502020204030204" pitchFamily="34" charset="0"/>
                <a:ea typeface="Calibri" panose="020F0502020204030204" pitchFamily="34" charset="0"/>
                <a:cs typeface="Calibri" panose="020F0502020204030204" pitchFamily="34" charset="0"/>
              </a:rPr>
              <a:t>Data Transformations</a:t>
            </a:r>
          </a:p>
          <a:p>
            <a:r>
              <a:rPr lang="en-US" sz="2800" dirty="0">
                <a:latin typeface="Calibri" panose="020F0502020204030204" pitchFamily="34" charset="0"/>
                <a:ea typeface="Calibri" panose="020F0502020204030204" pitchFamily="34" charset="0"/>
                <a:cs typeface="Calibri" panose="020F0502020204030204" pitchFamily="34" charset="0"/>
              </a:rPr>
              <a:t>Data Visualization and Insight</a:t>
            </a:r>
          </a:p>
          <a:p>
            <a:r>
              <a:rPr lang="en-US" sz="2800" dirty="0">
                <a:latin typeface="Calibri" panose="020F0502020204030204" pitchFamily="34" charset="0"/>
                <a:ea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969208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6892F-B15A-328B-1809-314ECD294440}"/>
              </a:ext>
            </a:extLst>
          </p:cNvPr>
          <p:cNvSpPr txBox="1"/>
          <p:nvPr/>
        </p:nvSpPr>
        <p:spPr>
          <a:xfrm>
            <a:off x="1687398" y="2083323"/>
            <a:ext cx="9747316" cy="3046988"/>
          </a:xfrm>
          <a:prstGeom prst="rect">
            <a:avLst/>
          </a:prstGeom>
          <a:noFill/>
        </p:spPr>
        <p:txBody>
          <a:bodyPr wrap="square" rtlCol="0">
            <a:sp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The objective of this project is to analyze the business performance of City Hotel and Resort Hotel from 2015 to 2017. The study evaluates operational efficiency, customer satisfaction, and financial performance of both hotels. It also examines occupancy levels, revenue management, and sales and marketing strategies. </a:t>
            </a:r>
          </a:p>
          <a:p>
            <a:pPr algn="ctr"/>
            <a:r>
              <a:rPr lang="en-US" sz="2400" dirty="0">
                <a:latin typeface="Calibri" panose="020F0502020204030204" pitchFamily="34" charset="0"/>
                <a:ea typeface="Calibri" panose="020F0502020204030204" pitchFamily="34" charset="0"/>
                <a:cs typeface="Calibri" panose="020F0502020204030204" pitchFamily="34" charset="0"/>
              </a:rPr>
              <a:t>The project aims to identify key performance trends and challenges. Based on the analysis, strategic recommendations are proposed to enhance profitability and support sustainable growth</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65E08FA-CE91-2C5F-F269-45444B49FF70}"/>
              </a:ext>
            </a:extLst>
          </p:cNvPr>
          <p:cNvSpPr txBox="1"/>
          <p:nvPr/>
        </p:nvSpPr>
        <p:spPr>
          <a:xfrm>
            <a:off x="2611224" y="556181"/>
            <a:ext cx="7607431" cy="707886"/>
          </a:xfrm>
          <a:prstGeom prst="rect">
            <a:avLst/>
          </a:prstGeom>
          <a:noFill/>
        </p:spPr>
        <p:txBody>
          <a:bodyPr wrap="square" rtlCol="0">
            <a:spAutoFit/>
          </a:bodyPr>
          <a:lstStyle/>
          <a:p>
            <a:r>
              <a:rPr lang="en-US" sz="4000" b="1" dirty="0">
                <a:latin typeface="Aptos" panose="020B0004020202020204" pitchFamily="34" charset="0"/>
              </a:rPr>
              <a:t>Project Overviews &amp; Objective</a:t>
            </a:r>
            <a:endParaRPr lang="en-IN" sz="4000" b="1" dirty="0">
              <a:latin typeface="Aptos" panose="020B0004020202020204" pitchFamily="34" charset="0"/>
            </a:endParaRPr>
          </a:p>
        </p:txBody>
      </p:sp>
    </p:spTree>
    <p:extLst>
      <p:ext uri="{BB962C8B-B14F-4D97-AF65-F5344CB8AC3E}">
        <p14:creationId xmlns:p14="http://schemas.microsoft.com/office/powerpoint/2010/main" val="2188552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AEC52BB9-810D-E051-2547-D8733E4553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998" y="1655790"/>
            <a:ext cx="11770503" cy="4105125"/>
          </a:xfrm>
          <a:prstGeom prst="rect">
            <a:avLst/>
          </a:prstGeom>
        </p:spPr>
      </p:pic>
      <p:sp>
        <p:nvSpPr>
          <p:cNvPr id="3" name="TextBox 2">
            <a:extLst>
              <a:ext uri="{FF2B5EF4-FFF2-40B4-BE49-F238E27FC236}">
                <a16:creationId xmlns:a16="http://schemas.microsoft.com/office/drawing/2014/main" id="{23D6FDBD-6137-08AB-6376-4FE43A85E7EA}"/>
              </a:ext>
            </a:extLst>
          </p:cNvPr>
          <p:cNvSpPr txBox="1"/>
          <p:nvPr/>
        </p:nvSpPr>
        <p:spPr>
          <a:xfrm>
            <a:off x="4157220" y="515820"/>
            <a:ext cx="4317476"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Raw Data Preview</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78396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A52D05-E222-71C3-97D5-751627E8E044}"/>
              </a:ext>
            </a:extLst>
          </p:cNvPr>
          <p:cNvSpPr txBox="1"/>
          <p:nvPr/>
        </p:nvSpPr>
        <p:spPr>
          <a:xfrm>
            <a:off x="3447068" y="306620"/>
            <a:ext cx="6749592" cy="769441"/>
          </a:xfrm>
          <a:prstGeom prst="rect">
            <a:avLst/>
          </a:prstGeom>
          <a:noFill/>
        </p:spPr>
        <p:txBody>
          <a:bodyPr wrap="square" rtlCol="0">
            <a:spAutoFit/>
          </a:bodyPr>
          <a:lstStyle/>
          <a:p>
            <a:r>
              <a:rPr lang="en-US" sz="4400" dirty="0">
                <a:latin typeface="Calibri" panose="020F0502020204030204" pitchFamily="34" charset="0"/>
                <a:ea typeface="Calibri" panose="020F0502020204030204" pitchFamily="34" charset="0"/>
                <a:cs typeface="Calibri" panose="020F0502020204030204" pitchFamily="34" charset="0"/>
              </a:rPr>
              <a:t>Know Your Variable</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EF63F473-C3A7-5147-C700-7AE86155A7A9}"/>
              </a:ext>
            </a:extLst>
          </p:cNvPr>
          <p:cNvPicPr>
            <a:picLocks noChangeAspect="1"/>
          </p:cNvPicPr>
          <p:nvPr/>
        </p:nvPicPr>
        <p:blipFill>
          <a:blip r:embed="rId2"/>
          <a:srcRect l="9511" t="31407" r="19200" b="6155"/>
          <a:stretch>
            <a:fillRect/>
          </a:stretch>
        </p:blipFill>
        <p:spPr>
          <a:xfrm>
            <a:off x="909723" y="1574276"/>
            <a:ext cx="10372553" cy="4826275"/>
          </a:xfrm>
          <a:prstGeom prst="rect">
            <a:avLst/>
          </a:prstGeom>
        </p:spPr>
      </p:pic>
      <p:sp>
        <p:nvSpPr>
          <p:cNvPr id="8" name="Rectangle 7">
            <a:extLst>
              <a:ext uri="{FF2B5EF4-FFF2-40B4-BE49-F238E27FC236}">
                <a16:creationId xmlns:a16="http://schemas.microsoft.com/office/drawing/2014/main" id="{7FD46B14-EE65-B49A-063D-0A4C0B8A3DCE}"/>
              </a:ext>
            </a:extLst>
          </p:cNvPr>
          <p:cNvSpPr/>
          <p:nvPr/>
        </p:nvSpPr>
        <p:spPr>
          <a:xfrm>
            <a:off x="9134573" y="471340"/>
            <a:ext cx="414780" cy="235670"/>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7F189ADB-5150-6E8F-C194-067DF5156392}"/>
              </a:ext>
            </a:extLst>
          </p:cNvPr>
          <p:cNvSpPr txBox="1"/>
          <p:nvPr/>
        </p:nvSpPr>
        <p:spPr>
          <a:xfrm>
            <a:off x="9690754" y="457449"/>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Added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4B4793E5-DCAB-53DF-5A77-3523CCFDDBD3}"/>
              </a:ext>
            </a:extLst>
          </p:cNvPr>
          <p:cNvSpPr/>
          <p:nvPr/>
        </p:nvSpPr>
        <p:spPr>
          <a:xfrm>
            <a:off x="9134573" y="871730"/>
            <a:ext cx="414780" cy="23567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E44AC11-0951-1351-E213-AC67D1E6F4E7}"/>
              </a:ext>
            </a:extLst>
          </p:cNvPr>
          <p:cNvSpPr txBox="1"/>
          <p:nvPr/>
        </p:nvSpPr>
        <p:spPr>
          <a:xfrm>
            <a:off x="9690754" y="810455"/>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Removed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64095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4700A4-1052-CB30-77E5-B7D4194ACECF}"/>
              </a:ext>
            </a:extLst>
          </p:cNvPr>
          <p:cNvPicPr>
            <a:picLocks noChangeAspect="1"/>
          </p:cNvPicPr>
          <p:nvPr/>
        </p:nvPicPr>
        <p:blipFill>
          <a:blip r:embed="rId2"/>
          <a:srcRect l="9665" t="31553" r="19356" b="7611"/>
          <a:stretch>
            <a:fillRect/>
          </a:stretch>
        </p:blipFill>
        <p:spPr>
          <a:xfrm>
            <a:off x="1051291" y="1480009"/>
            <a:ext cx="10392849" cy="4732256"/>
          </a:xfrm>
          <a:prstGeom prst="rect">
            <a:avLst/>
          </a:prstGeom>
        </p:spPr>
      </p:pic>
      <p:sp>
        <p:nvSpPr>
          <p:cNvPr id="4" name="TextBox 3">
            <a:extLst>
              <a:ext uri="{FF2B5EF4-FFF2-40B4-BE49-F238E27FC236}">
                <a16:creationId xmlns:a16="http://schemas.microsoft.com/office/drawing/2014/main" id="{4EB6FE9F-2019-85F4-EBBF-709044C7B3D5}"/>
              </a:ext>
            </a:extLst>
          </p:cNvPr>
          <p:cNvSpPr txBox="1"/>
          <p:nvPr/>
        </p:nvSpPr>
        <p:spPr>
          <a:xfrm>
            <a:off x="3447068" y="306620"/>
            <a:ext cx="6749592" cy="769441"/>
          </a:xfrm>
          <a:prstGeom prst="rect">
            <a:avLst/>
          </a:prstGeom>
          <a:noFill/>
        </p:spPr>
        <p:txBody>
          <a:bodyPr wrap="square" rtlCol="0">
            <a:spAutoFit/>
          </a:bodyPr>
          <a:lstStyle/>
          <a:p>
            <a:r>
              <a:rPr lang="en-US" sz="4400" dirty="0">
                <a:latin typeface="Calibri" panose="020F0502020204030204" pitchFamily="34" charset="0"/>
                <a:ea typeface="Calibri" panose="020F0502020204030204" pitchFamily="34" charset="0"/>
                <a:cs typeface="Calibri" panose="020F0502020204030204" pitchFamily="34" charset="0"/>
              </a:rPr>
              <a:t>Know Your Variable</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460C04F2-CC8E-38C3-2519-BA05928A3F6F}"/>
              </a:ext>
            </a:extLst>
          </p:cNvPr>
          <p:cNvSpPr/>
          <p:nvPr/>
        </p:nvSpPr>
        <p:spPr>
          <a:xfrm>
            <a:off x="9134573" y="471340"/>
            <a:ext cx="414780" cy="235670"/>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26A4C7A-4E09-5B86-ECAA-1C0268F26FC6}"/>
              </a:ext>
            </a:extLst>
          </p:cNvPr>
          <p:cNvSpPr txBox="1"/>
          <p:nvPr/>
        </p:nvSpPr>
        <p:spPr>
          <a:xfrm>
            <a:off x="9690754" y="457449"/>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Added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D57C3C70-1D0A-8239-61FB-2FD3718833E7}"/>
              </a:ext>
            </a:extLst>
          </p:cNvPr>
          <p:cNvSpPr/>
          <p:nvPr/>
        </p:nvSpPr>
        <p:spPr>
          <a:xfrm>
            <a:off x="9134573" y="871730"/>
            <a:ext cx="414780" cy="23567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640A13C-DAB7-7041-BF1D-5C84990444E7}"/>
              </a:ext>
            </a:extLst>
          </p:cNvPr>
          <p:cNvSpPr txBox="1"/>
          <p:nvPr/>
        </p:nvSpPr>
        <p:spPr>
          <a:xfrm>
            <a:off x="9690754" y="810455"/>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Removed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94777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1BD4B8-4312-695B-E8BA-CAF160481041}"/>
              </a:ext>
            </a:extLst>
          </p:cNvPr>
          <p:cNvSpPr txBox="1"/>
          <p:nvPr/>
        </p:nvSpPr>
        <p:spPr>
          <a:xfrm>
            <a:off x="3487918" y="329938"/>
            <a:ext cx="6834433" cy="923330"/>
          </a:xfrm>
          <a:prstGeom prst="rect">
            <a:avLst/>
          </a:prstGeom>
          <a:noFill/>
        </p:spPr>
        <p:txBody>
          <a:bodyPr wrap="square" rtlCol="0">
            <a:spAutoFit/>
          </a:bodyPr>
          <a:lstStyle/>
          <a:p>
            <a:r>
              <a:rPr lang="en-US" sz="5400" b="1" dirty="0">
                <a:latin typeface="Aptos" panose="020B0004020202020204" pitchFamily="34" charset="0"/>
              </a:rPr>
              <a:t>Data Cleaning</a:t>
            </a:r>
            <a:endParaRPr lang="en-IN" sz="5400" b="1" dirty="0">
              <a:latin typeface="Aptos" panose="020B0004020202020204" pitchFamily="34" charset="0"/>
            </a:endParaRPr>
          </a:p>
        </p:txBody>
      </p:sp>
      <p:pic>
        <p:nvPicPr>
          <p:cNvPr id="4" name="Picture 3">
            <a:extLst>
              <a:ext uri="{FF2B5EF4-FFF2-40B4-BE49-F238E27FC236}">
                <a16:creationId xmlns:a16="http://schemas.microsoft.com/office/drawing/2014/main" id="{F65C9860-8316-5C74-B315-97C7A6CAC13C}"/>
              </a:ext>
            </a:extLst>
          </p:cNvPr>
          <p:cNvPicPr>
            <a:picLocks noChangeAspect="1"/>
          </p:cNvPicPr>
          <p:nvPr/>
        </p:nvPicPr>
        <p:blipFill>
          <a:blip r:embed="rId2"/>
          <a:srcRect l="12525" t="43924" r="38609" b="12268"/>
          <a:stretch>
            <a:fillRect/>
          </a:stretch>
        </p:blipFill>
        <p:spPr>
          <a:xfrm>
            <a:off x="1150071" y="1489377"/>
            <a:ext cx="10114426" cy="4817155"/>
          </a:xfrm>
          <a:prstGeom prst="rect">
            <a:avLst/>
          </a:prstGeom>
        </p:spPr>
      </p:pic>
      <p:sp>
        <p:nvSpPr>
          <p:cNvPr id="5" name="Rectangle 4">
            <a:extLst>
              <a:ext uri="{FF2B5EF4-FFF2-40B4-BE49-F238E27FC236}">
                <a16:creationId xmlns:a16="http://schemas.microsoft.com/office/drawing/2014/main" id="{2209B4C6-0858-B7A6-1F80-4265E0DCCF49}"/>
              </a:ext>
            </a:extLst>
          </p:cNvPr>
          <p:cNvSpPr/>
          <p:nvPr/>
        </p:nvSpPr>
        <p:spPr>
          <a:xfrm>
            <a:off x="9134573" y="471340"/>
            <a:ext cx="414780" cy="235670"/>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3E40BC2-3FE5-2C4E-7C94-FC94211B86FA}"/>
              </a:ext>
            </a:extLst>
          </p:cNvPr>
          <p:cNvSpPr txBox="1"/>
          <p:nvPr/>
        </p:nvSpPr>
        <p:spPr>
          <a:xfrm>
            <a:off x="9690754" y="457449"/>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Added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3C214561-B9DB-3D84-4BD5-976188F2261C}"/>
              </a:ext>
            </a:extLst>
          </p:cNvPr>
          <p:cNvSpPr/>
          <p:nvPr/>
        </p:nvSpPr>
        <p:spPr>
          <a:xfrm>
            <a:off x="9134573" y="871730"/>
            <a:ext cx="414780" cy="23567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8960920B-586A-6752-734E-7C8CB2F4A70A}"/>
              </a:ext>
            </a:extLst>
          </p:cNvPr>
          <p:cNvSpPr txBox="1"/>
          <p:nvPr/>
        </p:nvSpPr>
        <p:spPr>
          <a:xfrm>
            <a:off x="9690754" y="810455"/>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Removed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8239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8D1D16-975C-FEC2-4577-4F14C4A364EE}"/>
              </a:ext>
            </a:extLst>
          </p:cNvPr>
          <p:cNvPicPr>
            <a:picLocks noChangeAspect="1"/>
          </p:cNvPicPr>
          <p:nvPr/>
        </p:nvPicPr>
        <p:blipFill>
          <a:blip r:embed="rId2"/>
          <a:srcRect l="1701" t="33154" r="3815" b="26094"/>
          <a:stretch>
            <a:fillRect/>
          </a:stretch>
        </p:blipFill>
        <p:spPr>
          <a:xfrm>
            <a:off x="452489" y="2109247"/>
            <a:ext cx="11519554" cy="2639506"/>
          </a:xfrm>
          <a:prstGeom prst="rect">
            <a:avLst/>
          </a:prstGeom>
        </p:spPr>
      </p:pic>
      <p:sp>
        <p:nvSpPr>
          <p:cNvPr id="8" name="TextBox 7">
            <a:extLst>
              <a:ext uri="{FF2B5EF4-FFF2-40B4-BE49-F238E27FC236}">
                <a16:creationId xmlns:a16="http://schemas.microsoft.com/office/drawing/2014/main" id="{589C0A6B-1C28-8FA8-E21E-6FA605CFEC6D}"/>
              </a:ext>
            </a:extLst>
          </p:cNvPr>
          <p:cNvSpPr txBox="1"/>
          <p:nvPr/>
        </p:nvSpPr>
        <p:spPr>
          <a:xfrm>
            <a:off x="2922308" y="433633"/>
            <a:ext cx="6919275" cy="1015663"/>
          </a:xfrm>
          <a:prstGeom prst="rect">
            <a:avLst/>
          </a:prstGeom>
          <a:noFill/>
        </p:spPr>
        <p:txBody>
          <a:bodyPr wrap="square" rtlCol="0">
            <a:spAutoFit/>
          </a:bodyPr>
          <a:lstStyle/>
          <a:p>
            <a:r>
              <a:rPr lang="en-US" sz="6000" b="1" dirty="0">
                <a:latin typeface="Calibri" panose="020F0502020204030204" pitchFamily="34" charset="0"/>
                <a:ea typeface="Calibri" panose="020F0502020204030204" pitchFamily="34" charset="0"/>
                <a:cs typeface="Calibri" panose="020F0502020204030204" pitchFamily="34" charset="0"/>
              </a:rPr>
              <a:t>Data Transformation</a:t>
            </a:r>
            <a:endParaRPr lang="en-IN" sz="6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03301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90DB66-97C0-0FA5-8F30-0A3619FAEE58}"/>
              </a:ext>
            </a:extLst>
          </p:cNvPr>
          <p:cNvSpPr txBox="1"/>
          <p:nvPr/>
        </p:nvSpPr>
        <p:spPr>
          <a:xfrm>
            <a:off x="2121031" y="848412"/>
            <a:ext cx="8785781" cy="923330"/>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5400" b="1" dirty="0">
                <a:ln w="0"/>
                <a:solidFill>
                  <a:schemeClr val="accent1"/>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Calibri" panose="020F0502020204030204" pitchFamily="34" charset="0"/>
              </a:rPr>
              <a:t>Data Visualization and Insight</a:t>
            </a:r>
          </a:p>
        </p:txBody>
      </p:sp>
      <p:pic>
        <p:nvPicPr>
          <p:cNvPr id="4" name="Picture 3">
            <a:extLst>
              <a:ext uri="{FF2B5EF4-FFF2-40B4-BE49-F238E27FC236}">
                <a16:creationId xmlns:a16="http://schemas.microsoft.com/office/drawing/2014/main" id="{ECC35AA2-A2CE-0F65-4323-4C11769F14E5}"/>
              </a:ext>
            </a:extLst>
          </p:cNvPr>
          <p:cNvPicPr>
            <a:picLocks noChangeAspect="1"/>
          </p:cNvPicPr>
          <p:nvPr/>
        </p:nvPicPr>
        <p:blipFill>
          <a:blip r:embed="rId2">
            <a:extLst>
              <a:ext uri="{28A0092B-C50C-407E-A947-70E740481C1C}">
                <a14:useLocalDpi xmlns:a14="http://schemas.microsoft.com/office/drawing/2010/main" val="0"/>
              </a:ext>
            </a:extLst>
          </a:blip>
          <a:srcRect l="7035" t="3711" r="4665" b="45980"/>
          <a:stretch>
            <a:fillRect/>
          </a:stretch>
        </p:blipFill>
        <p:spPr>
          <a:xfrm>
            <a:off x="857839" y="2064470"/>
            <a:ext cx="10765410" cy="34502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0155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CA4EF9-0BFB-5B26-E0D6-69C37C60937E}"/>
              </a:ext>
            </a:extLst>
          </p:cNvPr>
          <p:cNvPicPr>
            <a:picLocks noChangeAspect="1"/>
          </p:cNvPicPr>
          <p:nvPr/>
        </p:nvPicPr>
        <p:blipFill>
          <a:blip r:embed="rId2"/>
          <a:srcRect l="12216" t="28933" r="60335" b="23329"/>
          <a:stretch>
            <a:fillRect/>
          </a:stretch>
        </p:blipFill>
        <p:spPr>
          <a:xfrm>
            <a:off x="999241" y="1500455"/>
            <a:ext cx="4762981" cy="4400725"/>
          </a:xfrm>
          <a:prstGeom prst="rect">
            <a:avLst/>
          </a:prstGeom>
          <a:ln>
            <a:noFill/>
          </a:ln>
          <a:effectLst>
            <a:outerShdw blurRad="292100" dist="139700" dir="2700000" algn="tl" rotWithShape="0">
              <a:srgbClr val="333333">
                <a:alpha val="65000"/>
              </a:srgbClr>
            </a:outerShdw>
          </a:effectLst>
        </p:spPr>
      </p:pic>
      <p:sp>
        <p:nvSpPr>
          <p:cNvPr id="9" name="Rectangle 1">
            <a:extLst>
              <a:ext uri="{FF2B5EF4-FFF2-40B4-BE49-F238E27FC236}">
                <a16:creationId xmlns:a16="http://schemas.microsoft.com/office/drawing/2014/main" id="{C8BF378B-B8A9-9D47-D86D-07396D1250DF}"/>
              </a:ext>
            </a:extLst>
          </p:cNvPr>
          <p:cNvSpPr>
            <a:spLocks noChangeArrowheads="1"/>
          </p:cNvSpPr>
          <p:nvPr/>
        </p:nvSpPr>
        <p:spPr bwMode="auto">
          <a:xfrm>
            <a:off x="6429780" y="2049360"/>
            <a:ext cx="519800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 picked this chart because it clearly shows the booking share between City Hotel and Resort Hotel.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reveals that City Hotel has a larger booking volume (61%) compared to Resort Hotel (39%).</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T</a:t>
            </a:r>
            <a:r>
              <a:rPr kumimoji="0" lang="en-US" altLang="en-US" sz="1800" b="0" i="0" u="none" strike="noStrike" cap="none" normalizeH="0" baseline="0" dirty="0">
                <a:ln>
                  <a:noFill/>
                </a:ln>
                <a:solidFill>
                  <a:schemeClr val="tx1"/>
                </a:solidFill>
                <a:effectLst/>
                <a:latin typeface="Arial" panose="020B0604020202020204" pitchFamily="34" charset="0"/>
              </a:rPr>
              <a:t>his insight helps focus efforts on improving Resort Hotel’s performance to increase overall business growth.</a:t>
            </a:r>
          </a:p>
        </p:txBody>
      </p:sp>
      <p:sp>
        <p:nvSpPr>
          <p:cNvPr id="10" name="TextBox 9">
            <a:extLst>
              <a:ext uri="{FF2B5EF4-FFF2-40B4-BE49-F238E27FC236}">
                <a16:creationId xmlns:a16="http://schemas.microsoft.com/office/drawing/2014/main" id="{B9E50C90-374D-05AE-5221-C97B621680B7}"/>
              </a:ext>
            </a:extLst>
          </p:cNvPr>
          <p:cNvSpPr txBox="1"/>
          <p:nvPr/>
        </p:nvSpPr>
        <p:spPr>
          <a:xfrm>
            <a:off x="3733015" y="338769"/>
            <a:ext cx="5731497" cy="646331"/>
          </a:xfrm>
          <a:prstGeom prst="rect">
            <a:avLst/>
          </a:prstGeom>
          <a:noFill/>
        </p:spPr>
        <p:txBody>
          <a:bodyPr wrap="square" rtlCol="0">
            <a:spAutoFit/>
          </a:bodyPr>
          <a:lstStyle/>
          <a:p>
            <a:r>
              <a:rPr lang="en-IN" sz="3600" dirty="0">
                <a:latin typeface="Arial" panose="020B0604020202020204" pitchFamily="34" charset="0"/>
                <a:ea typeface="Calibri" panose="020F0502020204030204" pitchFamily="34" charset="0"/>
                <a:cs typeface="Arial" panose="020B0604020202020204" pitchFamily="34" charset="0"/>
              </a:rPr>
              <a:t>Most Preferred hotel </a:t>
            </a:r>
          </a:p>
        </p:txBody>
      </p:sp>
    </p:spTree>
    <p:extLst>
      <p:ext uri="{BB962C8B-B14F-4D97-AF65-F5344CB8AC3E}">
        <p14:creationId xmlns:p14="http://schemas.microsoft.com/office/powerpoint/2010/main" val="178605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208C99-990B-9C48-6AB3-6910DE406366}"/>
              </a:ext>
            </a:extLst>
          </p:cNvPr>
          <p:cNvPicPr>
            <a:picLocks noChangeAspect="1"/>
          </p:cNvPicPr>
          <p:nvPr/>
        </p:nvPicPr>
        <p:blipFill>
          <a:blip r:embed="rId2"/>
          <a:srcRect l="5334" t="25149" r="41316" b="21437"/>
          <a:stretch>
            <a:fillRect/>
          </a:stretch>
        </p:blipFill>
        <p:spPr>
          <a:xfrm>
            <a:off x="612741" y="1998481"/>
            <a:ext cx="6504495" cy="3459637"/>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BCFD733D-BB30-88A2-135B-FA35972B867F}"/>
              </a:ext>
            </a:extLst>
          </p:cNvPr>
          <p:cNvSpPr txBox="1"/>
          <p:nvPr/>
        </p:nvSpPr>
        <p:spPr>
          <a:xfrm>
            <a:off x="7230357" y="1998481"/>
            <a:ext cx="4854805" cy="3293209"/>
          </a:xfrm>
          <a:prstGeom prst="rect">
            <a:avLst/>
          </a:prstGeom>
          <a:noFill/>
        </p:spPr>
        <p:txBody>
          <a:bodyPr wrap="square" rtlCol="0">
            <a:spAutoFit/>
          </a:bodyPr>
          <a:lstStyle/>
          <a:p>
            <a:pPr marL="285750" lvl="0" indent="-285750" algn="just"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ea typeface="Calibri" panose="020F0502020204030204" pitchFamily="34" charset="0"/>
                <a:cs typeface="Arial" panose="020B0604020202020204" pitchFamily="34" charset="0"/>
              </a:rPr>
              <a:t>The chart shows strong seasonal fluctuations with consistent summer peaks and sharp January dips. There is also an overall positive growth trend year-over-year.</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ea typeface="Calibri" panose="020F0502020204030204" pitchFamily="34" charset="0"/>
                <a:cs typeface="Arial" panose="020B0604020202020204" pitchFamily="34" charset="0"/>
              </a:rPr>
              <a:t>These insights lead to positive business impacts through better proactive planning, allowing for optimized pricing strategies and resource allocation.</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The data chart displays significant seasonal fluctuations in monthly booking IDs from July 2015 to July 2017. Bookings consistently peak during summer months (July) and drop sharply in January of each year.</a:t>
            </a:r>
            <a:endParaRPr lang="en-IN" sz="1600" dirty="0">
              <a:latin typeface="Arial" panose="020B060402020202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7EB7F079-B737-DB39-4588-5AF4AB0C6F86}"/>
              </a:ext>
            </a:extLst>
          </p:cNvPr>
          <p:cNvSpPr txBox="1"/>
          <p:nvPr/>
        </p:nvSpPr>
        <p:spPr>
          <a:xfrm>
            <a:off x="3671739" y="443060"/>
            <a:ext cx="6890994" cy="646331"/>
          </a:xfrm>
          <a:prstGeom prst="rect">
            <a:avLst/>
          </a:prstGeom>
          <a:noFill/>
        </p:spPr>
        <p:txBody>
          <a:bodyPr wrap="square" rtlCol="0">
            <a:spAutoFit/>
          </a:bodyPr>
          <a:lstStyle/>
          <a:p>
            <a:r>
              <a:rPr lang="en-IN" sz="3600" dirty="0">
                <a:latin typeface="Arial" panose="020B0604020202020204" pitchFamily="34" charset="0"/>
                <a:ea typeface="Calibri" panose="020F0502020204030204" pitchFamily="34" charset="0"/>
                <a:cs typeface="Arial" panose="020B0604020202020204" pitchFamily="34" charset="0"/>
              </a:rPr>
              <a:t>Year Wise Bookings</a:t>
            </a:r>
          </a:p>
        </p:txBody>
      </p:sp>
    </p:spTree>
    <p:extLst>
      <p:ext uri="{BB962C8B-B14F-4D97-AF65-F5344CB8AC3E}">
        <p14:creationId xmlns:p14="http://schemas.microsoft.com/office/powerpoint/2010/main" val="1778851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86E383-51EB-3049-F6F4-D35EC2C080FE}"/>
              </a:ext>
            </a:extLst>
          </p:cNvPr>
          <p:cNvPicPr>
            <a:picLocks noChangeAspect="1"/>
          </p:cNvPicPr>
          <p:nvPr/>
        </p:nvPicPr>
        <p:blipFill>
          <a:blip r:embed="rId2"/>
          <a:srcRect l="2319" t="19036" r="43944" b="19399"/>
          <a:stretch>
            <a:fillRect/>
          </a:stretch>
        </p:blipFill>
        <p:spPr>
          <a:xfrm>
            <a:off x="399068" y="2064468"/>
            <a:ext cx="6551629" cy="3987539"/>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0D4562BD-E827-6021-CB11-DCCF93BC70E9}"/>
              </a:ext>
            </a:extLst>
          </p:cNvPr>
          <p:cNvSpPr txBox="1"/>
          <p:nvPr/>
        </p:nvSpPr>
        <p:spPr>
          <a:xfrm>
            <a:off x="6919274" y="2513583"/>
            <a:ext cx="4873658" cy="1938992"/>
          </a:xfrm>
          <a:prstGeom prst="rect">
            <a:avLst/>
          </a:prstGeom>
          <a:noFill/>
        </p:spPr>
        <p:txBody>
          <a:bodyPr wrap="square">
            <a:spAutoFit/>
          </a:bodyPr>
          <a:lstStyle/>
          <a:p>
            <a:pPr marL="457200" lvl="0" indent="-304800" algn="l"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The Map shows from which country the maximum number of guests visit. </a:t>
            </a:r>
          </a:p>
          <a:p>
            <a:pPr marL="457200" lvl="0" indent="-304800" algn="just"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Based on the map, we can say that most guests visit from Portugal, the UK and France, i.e., approx. 27.45K, 10K and 9K people respectively.</a:t>
            </a:r>
          </a:p>
        </p:txBody>
      </p:sp>
      <p:sp>
        <p:nvSpPr>
          <p:cNvPr id="6" name="TextBox 5">
            <a:extLst>
              <a:ext uri="{FF2B5EF4-FFF2-40B4-BE49-F238E27FC236}">
                <a16:creationId xmlns:a16="http://schemas.microsoft.com/office/drawing/2014/main" id="{A1661A1E-38A1-DE3E-BBA4-B54F501CEBD1}"/>
              </a:ext>
            </a:extLst>
          </p:cNvPr>
          <p:cNvSpPr txBox="1"/>
          <p:nvPr/>
        </p:nvSpPr>
        <p:spPr>
          <a:xfrm>
            <a:off x="3784862" y="339366"/>
            <a:ext cx="5571241" cy="646331"/>
          </a:xfrm>
          <a:prstGeom prst="rect">
            <a:avLst/>
          </a:prstGeom>
          <a:noFill/>
        </p:spPr>
        <p:txBody>
          <a:bodyPr wrap="square" rtlCol="0">
            <a:spAutoFit/>
          </a:bodyPr>
          <a:lstStyle/>
          <a:p>
            <a:r>
              <a:rPr lang="en-IN" sz="3600" dirty="0">
                <a:latin typeface="Arial" panose="020B0604020202020204" pitchFamily="34" charset="0"/>
                <a:cs typeface="Arial" panose="020B0604020202020204" pitchFamily="34" charset="0"/>
              </a:rPr>
              <a:t>Country wise Guest</a:t>
            </a:r>
          </a:p>
        </p:txBody>
      </p:sp>
    </p:spTree>
    <p:extLst>
      <p:ext uri="{BB962C8B-B14F-4D97-AF65-F5344CB8AC3E}">
        <p14:creationId xmlns:p14="http://schemas.microsoft.com/office/powerpoint/2010/main" val="1119755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EB7513-653D-42D0-BE39-CFAACA67C12A}"/>
              </a:ext>
            </a:extLst>
          </p:cNvPr>
          <p:cNvPicPr>
            <a:picLocks noChangeAspect="1"/>
          </p:cNvPicPr>
          <p:nvPr/>
        </p:nvPicPr>
        <p:blipFill>
          <a:blip r:embed="rId2"/>
          <a:srcRect l="4252" t="26313" r="44407" b="24057"/>
          <a:stretch>
            <a:fillRect/>
          </a:stretch>
        </p:blipFill>
        <p:spPr>
          <a:xfrm>
            <a:off x="3132842" y="1451729"/>
            <a:ext cx="6259397" cy="3214540"/>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99A34BDB-D81B-861F-E62D-B5760DC151D9}"/>
              </a:ext>
            </a:extLst>
          </p:cNvPr>
          <p:cNvSpPr txBox="1"/>
          <p:nvPr/>
        </p:nvSpPr>
        <p:spPr>
          <a:xfrm>
            <a:off x="1308362" y="4986387"/>
            <a:ext cx="9575276" cy="1323439"/>
          </a:xfrm>
          <a:prstGeom prst="rect">
            <a:avLst/>
          </a:prstGeom>
          <a:noFill/>
        </p:spPr>
        <p:txBody>
          <a:bodyPr wrap="square">
            <a:spAutoFit/>
          </a:bodyPr>
          <a:lstStyle/>
          <a:p>
            <a:pPr marL="0" lvl="0" indent="0" algn="just" rtl="0">
              <a:spcBef>
                <a:spcPts val="0"/>
              </a:spcBef>
              <a:spcAft>
                <a:spcPts val="0"/>
              </a:spcAft>
              <a:buNone/>
            </a:pPr>
            <a:endParaRPr lang="en-US" sz="2000" b="1" dirty="0">
              <a:uFill>
                <a:noFill/>
              </a:uFill>
              <a:latin typeface="Arial" panose="020B0604020202020204" pitchFamily="34" charset="0"/>
              <a:ea typeface="Calibri" panose="020F0502020204030204" pitchFamily="34" charset="0"/>
              <a:cs typeface="Arial" panose="020B0604020202020204" pitchFamily="34" charset="0"/>
            </a:endParaRPr>
          </a:p>
          <a:p>
            <a:pPr marL="457200" lvl="0" indent="-304800" algn="just"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ea typeface="Calibri" panose="020F0502020204030204" pitchFamily="34" charset="0"/>
                <a:cs typeface="Arial" panose="020B0604020202020204" pitchFamily="34" charset="0"/>
              </a:rPr>
              <a:t>Based on the Donut chart, we can say out of all the bookings, </a:t>
            </a:r>
            <a:r>
              <a:rPr lang="en-US" sz="2000" b="1" dirty="0">
                <a:uFill>
                  <a:noFill/>
                </a:uFill>
                <a:latin typeface="Arial" panose="020B0604020202020204" pitchFamily="34" charset="0"/>
                <a:ea typeface="Calibri" panose="020F0502020204030204" pitchFamily="34" charset="0"/>
                <a:cs typeface="Arial" panose="020B0604020202020204" pitchFamily="34" charset="0"/>
              </a:rPr>
              <a:t>72.51%</a:t>
            </a:r>
            <a:r>
              <a:rPr lang="en-US" sz="2000" dirty="0">
                <a:uFill>
                  <a:noFill/>
                </a:uFill>
                <a:latin typeface="Arial" panose="020B0604020202020204" pitchFamily="34" charset="0"/>
                <a:ea typeface="Calibri" panose="020F0502020204030204" pitchFamily="34" charset="0"/>
                <a:cs typeface="Arial" panose="020B0604020202020204" pitchFamily="34" charset="0"/>
              </a:rPr>
              <a:t> of guests Checked-Out, </a:t>
            </a:r>
            <a:r>
              <a:rPr lang="en-US" sz="2000" b="1" dirty="0">
                <a:uFill>
                  <a:noFill/>
                </a:uFill>
                <a:latin typeface="Arial" panose="020B0604020202020204" pitchFamily="34" charset="0"/>
                <a:ea typeface="Calibri" panose="020F0502020204030204" pitchFamily="34" charset="0"/>
                <a:cs typeface="Arial" panose="020B0604020202020204" pitchFamily="34" charset="0"/>
              </a:rPr>
              <a:t>26.33%</a:t>
            </a:r>
            <a:r>
              <a:rPr lang="en-US" sz="2000" dirty="0">
                <a:uFill>
                  <a:noFill/>
                </a:uFill>
                <a:latin typeface="Arial" panose="020B0604020202020204" pitchFamily="34" charset="0"/>
                <a:ea typeface="Calibri" panose="020F0502020204030204" pitchFamily="34" charset="0"/>
                <a:cs typeface="Arial" panose="020B0604020202020204" pitchFamily="34" charset="0"/>
              </a:rPr>
              <a:t> of guests Cancelled the booking, while only a small percentage, i.e. </a:t>
            </a:r>
            <a:r>
              <a:rPr lang="en-US" sz="2000" b="1" dirty="0">
                <a:uFill>
                  <a:noFill/>
                </a:uFill>
                <a:latin typeface="Arial" panose="020B0604020202020204" pitchFamily="34" charset="0"/>
                <a:ea typeface="Calibri" panose="020F0502020204030204" pitchFamily="34" charset="0"/>
                <a:cs typeface="Arial" panose="020B0604020202020204" pitchFamily="34" charset="0"/>
              </a:rPr>
              <a:t>1.16%</a:t>
            </a:r>
            <a:r>
              <a:rPr lang="en-US" sz="2000" dirty="0">
                <a:uFill>
                  <a:noFill/>
                </a:uFill>
                <a:latin typeface="Arial" panose="020B0604020202020204" pitchFamily="34" charset="0"/>
                <a:ea typeface="Calibri" panose="020F0502020204030204" pitchFamily="34" charset="0"/>
                <a:cs typeface="Arial" panose="020B0604020202020204" pitchFamily="34" charset="0"/>
              </a:rPr>
              <a:t> of guests, were a No-Show.</a:t>
            </a:r>
          </a:p>
        </p:txBody>
      </p:sp>
      <p:sp>
        <p:nvSpPr>
          <p:cNvPr id="6" name="TextBox 5">
            <a:extLst>
              <a:ext uri="{FF2B5EF4-FFF2-40B4-BE49-F238E27FC236}">
                <a16:creationId xmlns:a16="http://schemas.microsoft.com/office/drawing/2014/main" id="{DCBB835F-1752-8BA6-1364-E2988185F182}"/>
              </a:ext>
            </a:extLst>
          </p:cNvPr>
          <p:cNvSpPr txBox="1"/>
          <p:nvPr/>
        </p:nvSpPr>
        <p:spPr>
          <a:xfrm>
            <a:off x="3844173" y="351709"/>
            <a:ext cx="6365056"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Reservation Status Ratio</a:t>
            </a:r>
            <a:endParaRPr lang="en-IN"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4252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EA87E9-B729-F48F-7FDE-D2508449E152}"/>
              </a:ext>
            </a:extLst>
          </p:cNvPr>
          <p:cNvPicPr>
            <a:picLocks noChangeAspect="1"/>
          </p:cNvPicPr>
          <p:nvPr/>
        </p:nvPicPr>
        <p:blipFill>
          <a:blip r:embed="rId2"/>
          <a:srcRect l="7190" t="25876" r="47192" b="25221"/>
          <a:stretch>
            <a:fillRect/>
          </a:stretch>
        </p:blipFill>
        <p:spPr>
          <a:xfrm>
            <a:off x="735291" y="2020394"/>
            <a:ext cx="5561814" cy="3167406"/>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9891ED27-DA10-18C0-E384-CE55DF560B61}"/>
              </a:ext>
            </a:extLst>
          </p:cNvPr>
          <p:cNvSpPr txBox="1"/>
          <p:nvPr/>
        </p:nvSpPr>
        <p:spPr>
          <a:xfrm>
            <a:off x="6447934" y="2151727"/>
            <a:ext cx="5458120" cy="2554545"/>
          </a:xfrm>
          <a:prstGeom prst="rect">
            <a:avLst/>
          </a:prstGeom>
          <a:noFill/>
        </p:spPr>
        <p:txBody>
          <a:bodyPr wrap="square">
            <a:spAutoFit/>
          </a:bodyPr>
          <a:lstStyle/>
          <a:p>
            <a:pPr marL="0" lvl="0" indent="0" algn="just" rtl="0">
              <a:spcBef>
                <a:spcPts val="0"/>
              </a:spcBef>
              <a:spcAft>
                <a:spcPts val="0"/>
              </a:spcAft>
              <a:buNone/>
            </a:pPr>
            <a:endParaRPr lang="en-US" sz="2000" b="1" dirty="0">
              <a:uFill>
                <a:noFill/>
              </a:uFill>
              <a:latin typeface="Arial" panose="020B0604020202020204" pitchFamily="34" charset="0"/>
              <a:cs typeface="Arial" panose="020B0604020202020204" pitchFamily="34" charset="0"/>
            </a:endParaRPr>
          </a:p>
          <a:p>
            <a:pPr marL="457200" lvl="0" indent="-304800" algn="just"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The Clustered Column chart shows the most preferred meals for guests of different hotels. </a:t>
            </a:r>
          </a:p>
          <a:p>
            <a:pPr marL="457200" lvl="0" indent="-304800" algn="just"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Based on the bar chart, we can say that most guests prefer </a:t>
            </a:r>
            <a:r>
              <a:rPr lang="en-US" sz="2000" b="1" dirty="0">
                <a:uFill>
                  <a:noFill/>
                </a:uFill>
                <a:latin typeface="Arial" panose="020B0604020202020204" pitchFamily="34" charset="0"/>
                <a:cs typeface="Arial" panose="020B0604020202020204" pitchFamily="34" charset="0"/>
              </a:rPr>
              <a:t>BB </a:t>
            </a:r>
            <a:r>
              <a:rPr lang="en-US" sz="2000" dirty="0">
                <a:uFill>
                  <a:noFill/>
                </a:uFill>
                <a:latin typeface="Arial" panose="020B0604020202020204" pitchFamily="34" charset="0"/>
                <a:cs typeface="Arial" panose="020B0604020202020204" pitchFamily="34" charset="0"/>
              </a:rPr>
              <a:t>meal type, which is approx. </a:t>
            </a:r>
            <a:r>
              <a:rPr lang="en-US" sz="2000" b="1" dirty="0">
                <a:uFill>
                  <a:noFill/>
                </a:uFill>
                <a:latin typeface="Arial" panose="020B0604020202020204" pitchFamily="34" charset="0"/>
                <a:cs typeface="Arial" panose="020B0604020202020204" pitchFamily="34" charset="0"/>
              </a:rPr>
              <a:t>41K </a:t>
            </a:r>
            <a:r>
              <a:rPr lang="en-US" sz="2000" dirty="0">
                <a:uFill>
                  <a:noFill/>
                </a:uFill>
                <a:latin typeface="Arial" panose="020B0604020202020204" pitchFamily="34" charset="0"/>
                <a:cs typeface="Arial" panose="020B0604020202020204" pitchFamily="34" charset="0"/>
              </a:rPr>
              <a:t>people for City Hotel and </a:t>
            </a:r>
            <a:r>
              <a:rPr lang="en-US" sz="2000" b="1" dirty="0">
                <a:uFill>
                  <a:noFill/>
                </a:uFill>
                <a:latin typeface="Arial" panose="020B0604020202020204" pitchFamily="34" charset="0"/>
                <a:cs typeface="Arial" panose="020B0604020202020204" pitchFamily="34" charset="0"/>
              </a:rPr>
              <a:t>27K </a:t>
            </a:r>
            <a:r>
              <a:rPr lang="en-US" sz="2000" dirty="0">
                <a:uFill>
                  <a:noFill/>
                </a:uFill>
                <a:latin typeface="Arial" panose="020B0604020202020204" pitchFamily="34" charset="0"/>
                <a:cs typeface="Arial" panose="020B0604020202020204" pitchFamily="34" charset="0"/>
              </a:rPr>
              <a:t>for Resort Hotel.</a:t>
            </a:r>
          </a:p>
        </p:txBody>
      </p:sp>
      <p:sp>
        <p:nvSpPr>
          <p:cNvPr id="8" name="TextBox 7">
            <a:extLst>
              <a:ext uri="{FF2B5EF4-FFF2-40B4-BE49-F238E27FC236}">
                <a16:creationId xmlns:a16="http://schemas.microsoft.com/office/drawing/2014/main" id="{97415065-2DE2-3507-8120-1FC67CE955E5}"/>
              </a:ext>
            </a:extLst>
          </p:cNvPr>
          <p:cNvSpPr txBox="1"/>
          <p:nvPr/>
        </p:nvSpPr>
        <p:spPr>
          <a:xfrm>
            <a:off x="3271101" y="348792"/>
            <a:ext cx="7428322"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Most Preferred Meal Hotel Wise</a:t>
            </a:r>
            <a:endParaRPr lang="en-IN"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083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5FA9B0-76B9-811F-8C1B-2F1E178ECBB4}"/>
              </a:ext>
            </a:extLst>
          </p:cNvPr>
          <p:cNvPicPr>
            <a:picLocks noChangeAspect="1"/>
          </p:cNvPicPr>
          <p:nvPr/>
        </p:nvPicPr>
        <p:blipFill>
          <a:blip r:embed="rId2"/>
          <a:srcRect l="3016" t="19764" r="50669" b="30316"/>
          <a:stretch>
            <a:fillRect/>
          </a:stretch>
        </p:blipFill>
        <p:spPr>
          <a:xfrm>
            <a:off x="449344" y="1970202"/>
            <a:ext cx="5646656" cy="3233394"/>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6B4DBED8-BF33-CA56-EA61-CA91AD49B0DD}"/>
              </a:ext>
            </a:extLst>
          </p:cNvPr>
          <p:cNvSpPr txBox="1"/>
          <p:nvPr/>
        </p:nvSpPr>
        <p:spPr>
          <a:xfrm>
            <a:off x="2912883" y="424206"/>
            <a:ext cx="7409468"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Parking Space Required by Guest</a:t>
            </a:r>
            <a:endParaRPr lang="en-IN" sz="3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2FE0A06-8D3E-3027-B354-4904FE62535D}"/>
              </a:ext>
            </a:extLst>
          </p:cNvPr>
          <p:cNvSpPr txBox="1"/>
          <p:nvPr/>
        </p:nvSpPr>
        <p:spPr>
          <a:xfrm>
            <a:off x="6862713" y="2503412"/>
            <a:ext cx="4628561" cy="2831544"/>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This Pie chart shows clear ratio for Parking space required by guest.</a:t>
            </a:r>
          </a:p>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Most guests (over 90%) don’t need parking, so parking capacity can be limited to reduce costs.</a:t>
            </a:r>
          </a:p>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Maintain a small, well-managed allocation for single-space requests to meet demand efficiently.</a:t>
            </a:r>
          </a:p>
          <a:p>
            <a:pPr algn="just"/>
            <a:endParaRPr lang="en-IN" dirty="0"/>
          </a:p>
        </p:txBody>
      </p:sp>
    </p:spTree>
    <p:extLst>
      <p:ext uri="{BB962C8B-B14F-4D97-AF65-F5344CB8AC3E}">
        <p14:creationId xmlns:p14="http://schemas.microsoft.com/office/powerpoint/2010/main" val="3801251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D722E4-C63D-704E-955C-83B354B6EFC6}"/>
              </a:ext>
            </a:extLst>
          </p:cNvPr>
          <p:cNvPicPr>
            <a:picLocks noChangeAspect="1"/>
          </p:cNvPicPr>
          <p:nvPr/>
        </p:nvPicPr>
        <p:blipFill>
          <a:blip r:embed="rId2"/>
          <a:srcRect l="4175" t="21364" r="43634" b="20128"/>
          <a:stretch>
            <a:fillRect/>
          </a:stretch>
        </p:blipFill>
        <p:spPr>
          <a:xfrm>
            <a:off x="509047" y="1574276"/>
            <a:ext cx="6363093" cy="3789576"/>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A8FA0674-3B57-6D9A-A4AE-9DD7D7B4D202}"/>
              </a:ext>
            </a:extLst>
          </p:cNvPr>
          <p:cNvSpPr txBox="1"/>
          <p:nvPr/>
        </p:nvSpPr>
        <p:spPr>
          <a:xfrm>
            <a:off x="3478491" y="367645"/>
            <a:ext cx="5957740"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Most Preferred Room Type</a:t>
            </a:r>
            <a:endParaRPr lang="en-IN" sz="3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13BB239-4B78-A9B4-23AB-864409F9093F}"/>
              </a:ext>
            </a:extLst>
          </p:cNvPr>
          <p:cNvSpPr txBox="1"/>
          <p:nvPr/>
        </p:nvSpPr>
        <p:spPr>
          <a:xfrm>
            <a:off x="7098383" y="2158739"/>
            <a:ext cx="4826524" cy="317009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This Clustered column chart shows clear ratio between the preferred room type with hotel type.</a:t>
            </a:r>
          </a:p>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Data Shows most preferred rooms are A and D.</a:t>
            </a:r>
          </a:p>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We can apply similarities of A and D Rooms to the rest of room to avoid miss assignment and increase satisfaction level of customer</a:t>
            </a:r>
          </a:p>
          <a:p>
            <a:pPr marL="285750" indent="-285750" algn="just">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7730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482F5A-D694-1830-5213-9545A9CD8C3C}"/>
              </a:ext>
            </a:extLst>
          </p:cNvPr>
          <p:cNvSpPr txBox="1"/>
          <p:nvPr/>
        </p:nvSpPr>
        <p:spPr>
          <a:xfrm>
            <a:off x="2743199" y="452486"/>
            <a:ext cx="7824248"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Most Preferred Market Segment</a:t>
            </a:r>
            <a:endParaRPr lang="en-IN" sz="36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5D2DED5-5C6D-A165-9450-1A95A5600A39}"/>
              </a:ext>
            </a:extLst>
          </p:cNvPr>
          <p:cNvPicPr>
            <a:picLocks noChangeAspect="1"/>
          </p:cNvPicPr>
          <p:nvPr/>
        </p:nvPicPr>
        <p:blipFill>
          <a:blip r:embed="rId2"/>
          <a:srcRect l="6185" t="24066" r="49510" b="23038"/>
          <a:stretch>
            <a:fillRect/>
          </a:stretch>
        </p:blipFill>
        <p:spPr>
          <a:xfrm>
            <a:off x="961534" y="1918949"/>
            <a:ext cx="5401558" cy="3426049"/>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ADED60DD-8B6B-6F97-D780-A8D728662B34}"/>
              </a:ext>
            </a:extLst>
          </p:cNvPr>
          <p:cNvSpPr txBox="1"/>
          <p:nvPr/>
        </p:nvSpPr>
        <p:spPr>
          <a:xfrm>
            <a:off x="6363092" y="2508588"/>
            <a:ext cx="5759778" cy="2246769"/>
          </a:xfrm>
          <a:prstGeom prst="rect">
            <a:avLst/>
          </a:prstGeom>
          <a:noFill/>
        </p:spPr>
        <p:txBody>
          <a:bodyPr wrap="square">
            <a:spAutoFit/>
          </a:bodyPr>
          <a:lstStyle/>
          <a:p>
            <a:pPr marL="0" lvl="0" indent="0" algn="l" rtl="0">
              <a:spcBef>
                <a:spcPts val="0"/>
              </a:spcBef>
              <a:spcAft>
                <a:spcPts val="0"/>
              </a:spcAft>
              <a:buNone/>
            </a:pPr>
            <a:endParaRPr lang="en-US" sz="2000" b="1" dirty="0">
              <a:uFill>
                <a:noFill/>
              </a:uFill>
              <a:latin typeface="Arial" panose="020B0604020202020204" pitchFamily="34" charset="0"/>
              <a:cs typeface="Arial" panose="020B0604020202020204" pitchFamily="34" charset="0"/>
            </a:endParaRPr>
          </a:p>
          <a:p>
            <a:pPr marL="457200" lvl="0" indent="-304800" algn="l"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The Ribbon chart shows the most preferred market segment for different hotels. </a:t>
            </a:r>
          </a:p>
          <a:p>
            <a:pPr marL="457200" lvl="0" indent="-304800" algn="l"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Based on the ribbon chart, we can say that the most preferred market segment is </a:t>
            </a:r>
            <a:r>
              <a:rPr lang="en-US" sz="2000" b="1" dirty="0">
                <a:uFill>
                  <a:noFill/>
                </a:uFill>
                <a:latin typeface="Arial" panose="020B0604020202020204" pitchFamily="34" charset="0"/>
                <a:cs typeface="Arial" panose="020B0604020202020204" pitchFamily="34" charset="0"/>
              </a:rPr>
              <a:t>Online TA</a:t>
            </a:r>
            <a:r>
              <a:rPr lang="en-US" sz="2000" dirty="0">
                <a:uFill>
                  <a:noFill/>
                </a:uFill>
                <a:latin typeface="Arial" panose="020B0604020202020204" pitchFamily="34" charset="0"/>
                <a:cs typeface="Arial" panose="020B0604020202020204" pitchFamily="34" charset="0"/>
              </a:rPr>
              <a:t>, which is approx. </a:t>
            </a:r>
            <a:r>
              <a:rPr lang="en-US" sz="2000" b="1" dirty="0">
                <a:uFill>
                  <a:noFill/>
                </a:uFill>
                <a:latin typeface="Arial" panose="020B0604020202020204" pitchFamily="34" charset="0"/>
                <a:cs typeface="Arial" panose="020B0604020202020204" pitchFamily="34" charset="0"/>
              </a:rPr>
              <a:t>35K </a:t>
            </a:r>
            <a:r>
              <a:rPr lang="en-US" sz="2000" dirty="0">
                <a:uFill>
                  <a:noFill/>
                </a:uFill>
                <a:latin typeface="Arial" panose="020B0604020202020204" pitchFamily="34" charset="0"/>
                <a:cs typeface="Arial" panose="020B0604020202020204" pitchFamily="34" charset="0"/>
              </a:rPr>
              <a:t>for the City Hotel and </a:t>
            </a:r>
            <a:r>
              <a:rPr lang="en-US" sz="2000" b="1" dirty="0">
                <a:uFill>
                  <a:noFill/>
                </a:uFill>
                <a:latin typeface="Arial" panose="020B0604020202020204" pitchFamily="34" charset="0"/>
                <a:cs typeface="Arial" panose="020B0604020202020204" pitchFamily="34" charset="0"/>
              </a:rPr>
              <a:t>17K</a:t>
            </a:r>
            <a:r>
              <a:rPr lang="en-US" sz="2000" dirty="0">
                <a:uFill>
                  <a:noFill/>
                </a:uFill>
                <a:latin typeface="Arial" panose="020B0604020202020204" pitchFamily="34" charset="0"/>
                <a:cs typeface="Arial" panose="020B0604020202020204" pitchFamily="34" charset="0"/>
              </a:rPr>
              <a:t> for the Resort Hotel, respectively.</a:t>
            </a:r>
          </a:p>
        </p:txBody>
      </p:sp>
    </p:spTree>
    <p:extLst>
      <p:ext uri="{BB962C8B-B14F-4D97-AF65-F5344CB8AC3E}">
        <p14:creationId xmlns:p14="http://schemas.microsoft.com/office/powerpoint/2010/main" val="677060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53F74A-6FF4-2246-49C4-A55EA820A911}"/>
              </a:ext>
            </a:extLst>
          </p:cNvPr>
          <p:cNvPicPr>
            <a:picLocks noChangeAspect="1"/>
          </p:cNvPicPr>
          <p:nvPr/>
        </p:nvPicPr>
        <p:blipFill>
          <a:blip r:embed="rId2"/>
          <a:srcRect l="4407" t="19473" r="27398" b="8339"/>
          <a:stretch>
            <a:fillRect/>
          </a:stretch>
        </p:blipFill>
        <p:spPr>
          <a:xfrm>
            <a:off x="216817" y="84841"/>
            <a:ext cx="11802358" cy="6655324"/>
          </a:xfrm>
          <a:prstGeom prst="rect">
            <a:avLst/>
          </a:prstGeom>
        </p:spPr>
      </p:pic>
    </p:spTree>
    <p:extLst>
      <p:ext uri="{BB962C8B-B14F-4D97-AF65-F5344CB8AC3E}">
        <p14:creationId xmlns:p14="http://schemas.microsoft.com/office/powerpoint/2010/main" val="2670324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543FFB-AC2E-C1E1-55ED-A0A4E6B95B05}"/>
              </a:ext>
            </a:extLst>
          </p:cNvPr>
          <p:cNvPicPr>
            <a:picLocks noChangeAspect="1"/>
          </p:cNvPicPr>
          <p:nvPr/>
        </p:nvPicPr>
        <p:blipFill>
          <a:blip r:embed="rId2"/>
          <a:srcRect l="3402" t="20200" r="28557" b="8337"/>
          <a:stretch>
            <a:fillRect/>
          </a:stretch>
        </p:blipFill>
        <p:spPr>
          <a:xfrm>
            <a:off x="631595" y="322868"/>
            <a:ext cx="11133997" cy="6212264"/>
          </a:xfrm>
          <a:prstGeom prst="rect">
            <a:avLst/>
          </a:prstGeom>
        </p:spPr>
      </p:pic>
    </p:spTree>
    <p:extLst>
      <p:ext uri="{BB962C8B-B14F-4D97-AF65-F5344CB8AC3E}">
        <p14:creationId xmlns:p14="http://schemas.microsoft.com/office/powerpoint/2010/main" val="305604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600AB7-67F1-A04B-78E0-C713A0E0AD8E}"/>
              </a:ext>
            </a:extLst>
          </p:cNvPr>
          <p:cNvSpPr txBox="1"/>
          <p:nvPr/>
        </p:nvSpPr>
        <p:spPr>
          <a:xfrm>
            <a:off x="1198775" y="2048794"/>
            <a:ext cx="9794449" cy="2862322"/>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Top Performance:</a:t>
            </a:r>
            <a:r>
              <a:rPr lang="en-US" dirty="0">
                <a:latin typeface="Arial" panose="020B0604020202020204" pitchFamily="34" charset="0"/>
                <a:cs typeface="Arial" panose="020B0604020202020204" pitchFamily="34" charset="0"/>
              </a:rPr>
              <a:t> City hotels are the preferred choice, with peak bookings and revenue recorded in </a:t>
            </a:r>
            <a:r>
              <a:rPr lang="en-US" b="1" dirty="0">
                <a:latin typeface="Arial" panose="020B0604020202020204" pitchFamily="34" charset="0"/>
                <a:cs typeface="Arial" panose="020B0604020202020204" pitchFamily="34" charset="0"/>
              </a:rPr>
              <a:t>2016</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Infrastructure:</a:t>
            </a:r>
            <a:r>
              <a:rPr lang="en-US" dirty="0">
                <a:latin typeface="Arial" panose="020B0604020202020204" pitchFamily="34" charset="0"/>
                <a:cs typeface="Arial" panose="020B0604020202020204" pitchFamily="34" charset="0"/>
              </a:rPr>
              <a:t> Minimal guest demand for </a:t>
            </a:r>
            <a:r>
              <a:rPr lang="en-US" b="1" dirty="0">
                <a:latin typeface="Arial" panose="020B0604020202020204" pitchFamily="34" charset="0"/>
                <a:cs typeface="Arial" panose="020B0604020202020204" pitchFamily="34" charset="0"/>
              </a:rPr>
              <a:t>parking</a:t>
            </a:r>
            <a:r>
              <a:rPr lang="en-US" dirty="0">
                <a:latin typeface="Arial" panose="020B0604020202020204" pitchFamily="34" charset="0"/>
                <a:cs typeface="Arial" panose="020B0604020202020204" pitchFamily="34" charset="0"/>
              </a:rPr>
              <a:t> suggests that further investment in parking facilities should be limited.</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Seasonality:</a:t>
            </a:r>
            <a:r>
              <a:rPr lang="en-US" dirty="0">
                <a:latin typeface="Arial" panose="020B0604020202020204" pitchFamily="34" charset="0"/>
                <a:cs typeface="Arial" panose="020B0604020202020204" pitchFamily="34" charset="0"/>
              </a:rPr>
              <a:t> Booking volumes peak annually during </a:t>
            </a:r>
            <a:r>
              <a:rPr lang="en-US" b="1" dirty="0">
                <a:latin typeface="Arial" panose="020B0604020202020204" pitchFamily="34" charset="0"/>
                <a:cs typeface="Arial" panose="020B0604020202020204" pitchFamily="34" charset="0"/>
              </a:rPr>
              <a:t>July and August</a:t>
            </a:r>
            <a:r>
              <a:rPr lang="en-US" dirty="0">
                <a:latin typeface="Arial" panose="020B0604020202020204" pitchFamily="34" charset="0"/>
                <a:cs typeface="Arial" panose="020B0604020202020204" pitchFamily="34" charset="0"/>
              </a:rPr>
              <a:t>, driven by the summer holiday season.</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Distribution &amp; Demographics:</a:t>
            </a:r>
            <a:r>
              <a:rPr lang="en-US" dirty="0">
                <a:latin typeface="Arial" panose="020B0604020202020204" pitchFamily="34" charset="0"/>
                <a:cs typeface="Arial" panose="020B0604020202020204" pitchFamily="34" charset="0"/>
              </a:rPr>
              <a:t> Most reservations flow through </a:t>
            </a:r>
            <a:r>
              <a:rPr lang="en-US" b="1" dirty="0">
                <a:latin typeface="Arial" panose="020B0604020202020204" pitchFamily="34" charset="0"/>
                <a:cs typeface="Arial" panose="020B0604020202020204" pitchFamily="34" charset="0"/>
              </a:rPr>
              <a:t>travel agents</a:t>
            </a:r>
            <a:r>
              <a:rPr lang="en-US" dirty="0">
                <a:latin typeface="Arial" panose="020B0604020202020204" pitchFamily="34" charset="0"/>
                <a:cs typeface="Arial" panose="020B0604020202020204" pitchFamily="34" charset="0"/>
              </a:rPr>
              <a:t>, with the largest customer bases originating from </a:t>
            </a:r>
            <a:r>
              <a:rPr lang="en-US" b="1" dirty="0">
                <a:latin typeface="Arial" panose="020B0604020202020204" pitchFamily="34" charset="0"/>
                <a:cs typeface="Arial" panose="020B0604020202020204" pitchFamily="34" charset="0"/>
              </a:rPr>
              <a:t>Portugal, the UK, France, and Spain</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Room &amp; Board:</a:t>
            </a:r>
            <a:r>
              <a:rPr lang="en-US" dirty="0">
                <a:latin typeface="Arial" panose="020B0604020202020204" pitchFamily="34" charset="0"/>
                <a:cs typeface="Arial" panose="020B0604020202020204" pitchFamily="34" charset="0"/>
              </a:rPr>
              <a:t> Guests most frequently book </a:t>
            </a:r>
            <a:r>
              <a:rPr lang="en-US" b="1" dirty="0">
                <a:latin typeface="Arial" panose="020B0604020202020204" pitchFamily="34" charset="0"/>
                <a:cs typeface="Arial" panose="020B0604020202020204" pitchFamily="34" charset="0"/>
              </a:rPr>
              <a:t>Room Types A and D</a:t>
            </a:r>
            <a:r>
              <a:rPr lang="en-US" dirty="0">
                <a:latin typeface="Arial" panose="020B0604020202020204" pitchFamily="34" charset="0"/>
                <a:cs typeface="Arial" panose="020B0604020202020204" pitchFamily="34" charset="0"/>
              </a:rPr>
              <a:t>, while </a:t>
            </a:r>
            <a:r>
              <a:rPr lang="en-US" b="1" dirty="0">
                <a:latin typeface="Arial" panose="020B0604020202020204" pitchFamily="34" charset="0"/>
                <a:cs typeface="Arial" panose="020B0604020202020204" pitchFamily="34" charset="0"/>
              </a:rPr>
              <a:t>Bed &amp; Breakfast (BB)</a:t>
            </a:r>
            <a:r>
              <a:rPr lang="en-US" dirty="0">
                <a:latin typeface="Arial" panose="020B0604020202020204" pitchFamily="34" charset="0"/>
                <a:cs typeface="Arial" panose="020B0604020202020204" pitchFamily="34" charset="0"/>
              </a:rPr>
              <a:t> remains the dominant meal plan.</a:t>
            </a:r>
          </a:p>
        </p:txBody>
      </p:sp>
      <p:sp>
        <p:nvSpPr>
          <p:cNvPr id="4" name="TextBox 3">
            <a:extLst>
              <a:ext uri="{FF2B5EF4-FFF2-40B4-BE49-F238E27FC236}">
                <a16:creationId xmlns:a16="http://schemas.microsoft.com/office/drawing/2014/main" id="{B59BF050-F951-84FA-9753-67565F1A07A2}"/>
              </a:ext>
            </a:extLst>
          </p:cNvPr>
          <p:cNvSpPr txBox="1"/>
          <p:nvPr/>
        </p:nvSpPr>
        <p:spPr>
          <a:xfrm>
            <a:off x="4119514" y="631597"/>
            <a:ext cx="5213023" cy="830997"/>
          </a:xfrm>
          <a:prstGeom prst="rect">
            <a:avLst/>
          </a:prstGeom>
          <a:noFill/>
        </p:spPr>
        <p:txBody>
          <a:bodyPr wrap="square" rtlCol="0">
            <a:spAutoFit/>
          </a:bodyPr>
          <a:lstStyle/>
          <a:p>
            <a:r>
              <a:rPr lang="en-IN" sz="4800" b="1" dirty="0">
                <a:latin typeface="Arial" panose="020B0604020202020204" pitchFamily="34" charset="0"/>
                <a:ea typeface="Calibri" panose="020F0502020204030204" pitchFamily="34" charset="0"/>
                <a:cs typeface="Arial" panose="020B0604020202020204" pitchFamily="34" charset="0"/>
              </a:rPr>
              <a:t>Conclusion</a:t>
            </a:r>
          </a:p>
        </p:txBody>
      </p:sp>
    </p:spTree>
    <p:extLst>
      <p:ext uri="{BB962C8B-B14F-4D97-AF65-F5344CB8AC3E}">
        <p14:creationId xmlns:p14="http://schemas.microsoft.com/office/powerpoint/2010/main" val="2588982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C5FEA2-7906-42DE-7D59-31E15082BE11}"/>
              </a:ext>
            </a:extLst>
          </p:cNvPr>
          <p:cNvSpPr txBox="1"/>
          <p:nvPr/>
        </p:nvSpPr>
        <p:spPr>
          <a:xfrm>
            <a:off x="3704733" y="2196445"/>
            <a:ext cx="6249972" cy="1323439"/>
          </a:xfrm>
          <a:prstGeom prst="rect">
            <a:avLst/>
          </a:prstGeom>
          <a:noFill/>
        </p:spPr>
        <p:txBody>
          <a:bodyPr wrap="square" rtlCol="0">
            <a:spAutoFit/>
          </a:bodyPr>
          <a:lstStyle/>
          <a:p>
            <a:r>
              <a:rPr lang="en-IN" sz="8000" dirty="0">
                <a:ln w="0"/>
                <a:solidFill>
                  <a:schemeClr val="accent1"/>
                </a:solidFill>
                <a:effectLst>
                  <a:glow rad="101600">
                    <a:schemeClr val="accent2">
                      <a:satMod val="175000"/>
                      <a:alpha val="40000"/>
                    </a:schemeClr>
                  </a:glow>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130215891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368</TotalTime>
  <Words>710</Words>
  <Application>Microsoft Office PowerPoint</Application>
  <PresentationFormat>Widescreen</PresentationFormat>
  <Paragraphs>66</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Arial Black</vt:lpstr>
      <vt:lpstr>Calibri</vt:lpstr>
      <vt:lpstr>Century Gothic</vt:lpstr>
      <vt:lpstr>Crimson Pro</vt:lpstr>
      <vt:lpstr>Wingdings 3</vt:lpstr>
      <vt:lpstr>Wisp</vt:lpstr>
      <vt:lpstr>PowerPoint Presentation</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SHUBHAM MHASKE</dc:creator>
  <cp:lastModifiedBy>SHUBHAM MHASKE</cp:lastModifiedBy>
  <cp:revision>25</cp:revision>
  <dcterms:created xsi:type="dcterms:W3CDTF">2026-02-01T14:05:13Z</dcterms:created>
  <dcterms:modified xsi:type="dcterms:W3CDTF">2026-02-10T05:32:14Z</dcterms:modified>
</cp:coreProperties>
</file>